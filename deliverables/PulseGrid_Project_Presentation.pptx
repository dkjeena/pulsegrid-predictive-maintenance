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82880"/>
            <a:ext cx="11567160" cy="868680"/>
          </a:xfrm>
          <a:prstGeom prst="roundRect">
            <a:avLst/>
          </a:prstGeom>
          <a:solidFill>
            <a:srgbClr val="14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731520" cy="502920"/>
          </a:xfrm>
          <a:prstGeom prst="roundRect">
            <a:avLst/>
          </a:prstGeom>
          <a:solidFill>
            <a:srgbClr val="56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2D26"/>
                </a:solidFill>
              </a:defRPr>
            </a:pPr>
            <a: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10896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0F8FF"/>
                </a:solidFill>
              </a:defRPr>
            </a:pPr>
            <a:r>
              <a:t>PulseGrid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62179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Predictive Maintenance Platform for Industrial Equipment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760720" cy="4480560"/>
          </a:xfrm>
          <a:prstGeom prst="roundRect">
            <a:avLst/>
          </a:prstGeom>
          <a:solidFill>
            <a:srgbClr val="143047"/>
          </a:solidFill>
          <a:ln>
            <a:solidFill>
              <a:srgbClr val="3A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600200"/>
            <a:ext cx="52578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End-to-end monitoring and failure-risk prediction system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Supports multi-machine telemetry, alerts, and maintenance workflow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Covers noisy/partial data handling and model monitoring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Prepared by: Daksh Jeena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56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910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6CFB4"/>
                </a:solidFill>
              </a:defRPr>
            </a:pPr>
            <a:r>
              <a:t>Node + Express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46304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FFA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15910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152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A756"/>
                </a:solidFill>
              </a:defRPr>
            </a:pPr>
            <a:r>
              <a:t>React 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8036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56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0083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33756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6CFB4"/>
                </a:solidFill>
              </a:defRPr>
            </a:pPr>
            <a:r>
              <a:t>JSON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88036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FFA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30083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Use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333756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A756"/>
                </a:solidFill>
              </a:defRPr>
            </a:pPr>
            <a:r>
              <a:t>Industry 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5E8"/>
                </a:solidFill>
              </a:defRPr>
            </a:pPr>
            <a:r>
              <a:t>PulseGrid Predictive Maintenance Platform  |  Generated 10 Mar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82880"/>
            <a:ext cx="11567160" cy="868680"/>
          </a:xfrm>
          <a:prstGeom prst="roundRect">
            <a:avLst/>
          </a:prstGeom>
          <a:solidFill>
            <a:srgbClr val="14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731520" cy="502920"/>
          </a:xfrm>
          <a:prstGeom prst="roundRect">
            <a:avLst/>
          </a:prstGeom>
          <a:solidFill>
            <a:srgbClr val="56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2D26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10896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0F8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62179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Unplanned downtime causes production and revenue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4754880"/>
          </a:xfrm>
          <a:prstGeom prst="roundRect">
            <a:avLst/>
          </a:prstGeom>
          <a:solidFill>
            <a:srgbClr val="143047"/>
          </a:solidFill>
          <a:ln>
            <a:solidFill>
              <a:srgbClr val="3A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55448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Industrial assets fail without enough early warning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Reactive maintenance increases cost and production disruption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Need a real-time predictive maintenance platform that: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Ingests sensor telemetry (vibration, temperature, current, RPM)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Predicts failure risk and triggers actionable alerts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Tracks health trend and recommended maintenance actions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Works reliably under noisy and missing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5E8"/>
                </a:solidFill>
              </a:defRPr>
            </a:pPr>
            <a:r>
              <a:t>PulseGrid Predictive Maintenance Platform  |  Generated 10 Mar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82880"/>
            <a:ext cx="11567160" cy="868680"/>
          </a:xfrm>
          <a:prstGeom prst="roundRect">
            <a:avLst/>
          </a:prstGeom>
          <a:solidFill>
            <a:srgbClr val="14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731520" cy="502920"/>
          </a:xfrm>
          <a:prstGeom prst="roundRect">
            <a:avLst/>
          </a:prstGeom>
          <a:solidFill>
            <a:srgbClr val="56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2D26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10896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0F8FF"/>
                </a:solidFill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62179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Functional and technical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4754880"/>
          </a:xfrm>
          <a:prstGeom prst="roundRect">
            <a:avLst/>
          </a:prstGeom>
          <a:solidFill>
            <a:srgbClr val="143047"/>
          </a:solidFill>
          <a:ln>
            <a:solidFill>
              <a:srgbClr val="3A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55448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Time-series feature extraction and fault-risk modeling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Production-style ingestion and monitoring APIs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Alert generation + maintenance workflow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Model performance and degradation tracking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Evaluation on accuracy, alert lead time, false alarm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56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910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6CFB4"/>
                </a:solidFill>
              </a:defRPr>
            </a:pPr>
            <a:r>
              <a:t>Tracked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46304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FFA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15910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Lead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152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A756"/>
                </a:solidFill>
              </a:defRPr>
            </a:pPr>
            <a:r>
              <a:t>Estimated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8036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56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0083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False Alarms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33756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6CFB4"/>
                </a:solidFill>
              </a:defRPr>
            </a:pPr>
            <a:r>
              <a:t>Reduced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88036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FFA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30083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333756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A756"/>
                </a:solidFill>
              </a:defRPr>
            </a:pPr>
            <a:r>
              <a:t>Noisy/Partial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5E8"/>
                </a:solidFill>
              </a:defRPr>
            </a:pPr>
            <a:r>
              <a:t>PulseGrid Predictive Maintenance Platform  |  Generated 10 Mar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82880"/>
            <a:ext cx="11567160" cy="868680"/>
          </a:xfrm>
          <a:prstGeom prst="roundRect">
            <a:avLst/>
          </a:prstGeom>
          <a:solidFill>
            <a:srgbClr val="14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731520" cy="502920"/>
          </a:xfrm>
          <a:prstGeom prst="roundRect">
            <a:avLst/>
          </a:prstGeom>
          <a:solidFill>
            <a:srgbClr val="56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2D26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10896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0F8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62179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Data ingestion to insights and alerting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4754880"/>
          </a:xfrm>
          <a:prstGeom prst="roundRect">
            <a:avLst/>
          </a:prstGeom>
          <a:solidFill>
            <a:srgbClr val="143047"/>
          </a:solidFill>
          <a:ln>
            <a:solidFill>
              <a:srgbClr val="3A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55448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Sensor Stream -&gt; API Ingestion -&gt; Feature &amp; Risk Engine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Risk Engine -&gt; Health Score + Trend + Recommendations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Alert Module -&gt; Open / Resolve maintenance alerts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Dashboard -&gt; fleet view, asset drilldown, monitoring panel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Persistent DB -&gt; assets, readings, alerts, metrics</a:t>
            </a:r>
          </a:p>
        </p:txBody>
      </p:sp>
      <p:sp>
        <p:nvSpPr>
          <p:cNvPr id="8" name="Chevron 7"/>
          <p:cNvSpPr/>
          <p:nvPr/>
        </p:nvSpPr>
        <p:spPr>
          <a:xfrm>
            <a:off x="6400800" y="1737360"/>
            <a:ext cx="1920240" cy="731520"/>
          </a:xfrm>
          <a:prstGeom prst="chevron">
            <a:avLst/>
          </a:prstGeom>
          <a:solidFill>
            <a:srgbClr val="2158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0F8FF"/>
                </a:solidFill>
              </a:defRPr>
            </a:pPr>
            <a:r>
              <a:t>Sensors</a:t>
            </a:r>
          </a:p>
        </p:txBody>
      </p:sp>
      <p:sp>
        <p:nvSpPr>
          <p:cNvPr id="9" name="Chevron 8"/>
          <p:cNvSpPr/>
          <p:nvPr/>
        </p:nvSpPr>
        <p:spPr>
          <a:xfrm>
            <a:off x="8412480" y="1737360"/>
            <a:ext cx="1920240" cy="731520"/>
          </a:xfrm>
          <a:prstGeom prst="chevron">
            <a:avLst/>
          </a:prstGeom>
          <a:solidFill>
            <a:srgbClr val="2B6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0F8FF"/>
                </a:solidFill>
              </a:defRPr>
            </a:pPr>
            <a:r>
              <a:t>API</a:t>
            </a:r>
          </a:p>
        </p:txBody>
      </p:sp>
      <p:sp>
        <p:nvSpPr>
          <p:cNvPr id="10" name="Chevron 9"/>
          <p:cNvSpPr/>
          <p:nvPr/>
        </p:nvSpPr>
        <p:spPr>
          <a:xfrm>
            <a:off x="6400800" y="2743200"/>
            <a:ext cx="1920240" cy="731520"/>
          </a:xfrm>
          <a:prstGeom prst="chevron">
            <a:avLst/>
          </a:prstGeom>
          <a:solidFill>
            <a:srgbClr val="3A83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0F8FF"/>
                </a:solidFill>
              </a:defRPr>
            </a:pPr>
            <a:r>
              <a:t>Risk Engine</a:t>
            </a:r>
          </a:p>
        </p:txBody>
      </p:sp>
      <p:sp>
        <p:nvSpPr>
          <p:cNvPr id="11" name="Chevron 10"/>
          <p:cNvSpPr/>
          <p:nvPr/>
        </p:nvSpPr>
        <p:spPr>
          <a:xfrm>
            <a:off x="8412480" y="2743200"/>
            <a:ext cx="1920240" cy="731520"/>
          </a:xfrm>
          <a:prstGeom prst="chevron">
            <a:avLst/>
          </a:prstGeom>
          <a:solidFill>
            <a:srgbClr val="4498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0F8FF"/>
                </a:solidFill>
              </a:defRPr>
            </a:pPr>
            <a:r>
              <a:t>Alerts</a:t>
            </a:r>
          </a:p>
        </p:txBody>
      </p:sp>
      <p:sp>
        <p:nvSpPr>
          <p:cNvPr id="12" name="Chevron 11"/>
          <p:cNvSpPr/>
          <p:nvPr/>
        </p:nvSpPr>
        <p:spPr>
          <a:xfrm>
            <a:off x="7406640" y="3749039"/>
            <a:ext cx="1920240" cy="731520"/>
          </a:xfrm>
          <a:prstGeom prst="chevron">
            <a:avLst/>
          </a:prstGeom>
          <a:solidFill>
            <a:srgbClr val="FFA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0F8FF"/>
                </a:solidFill>
              </a:defRPr>
            </a:pPr>
            <a: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5E8"/>
                </a:solidFill>
              </a:defRPr>
            </a:pPr>
            <a:r>
              <a:t>PulseGrid Predictive Maintenance Platform  |  Generated 10 Mar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82880"/>
            <a:ext cx="11567160" cy="868680"/>
          </a:xfrm>
          <a:prstGeom prst="roundRect">
            <a:avLst/>
          </a:prstGeom>
          <a:solidFill>
            <a:srgbClr val="14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731520" cy="502920"/>
          </a:xfrm>
          <a:prstGeom prst="roundRect">
            <a:avLst/>
          </a:prstGeom>
          <a:solidFill>
            <a:srgbClr val="56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2D26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10896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0F8FF"/>
                </a:solidFill>
              </a:defRPr>
            </a:pPr>
            <a:r>
              <a:t>Backend and API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62179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Node.js/Express with v2 maintenance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4754880"/>
          </a:xfrm>
          <a:prstGeom prst="roundRect">
            <a:avLst/>
          </a:prstGeom>
          <a:solidFill>
            <a:srgbClr val="143047"/>
          </a:solidFill>
          <a:ln>
            <a:solidFill>
              <a:srgbClr val="3A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55448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New routes implemented under /api/v2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Core APIs: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GET /api/v2/dashboard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POST /api/v2/readings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POST /api/v2/readings/simulate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GET /api/v2/alerts + PATCH alert status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Validation and scoring executed per incoming record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Threshold-driven alerts with maintenance recommendations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46304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0891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0F8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C50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0F8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C5074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GET /api/v2/health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Service check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GET /api/v2/assets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List assets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POST /api/v2/assets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Create asset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GET /api/v2/readings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Trend data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POST /api/v2/readings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Ingest telemetry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GET /api/v2/alerts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Open alerts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5E8"/>
                </a:solidFill>
              </a:defRPr>
            </a:pPr>
            <a:r>
              <a:t>PulseGrid Predictive Maintenance Platform  |  Generated 10 Mar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82880"/>
            <a:ext cx="11567160" cy="868680"/>
          </a:xfrm>
          <a:prstGeom prst="roundRect">
            <a:avLst/>
          </a:prstGeom>
          <a:solidFill>
            <a:srgbClr val="14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731520" cy="502920"/>
          </a:xfrm>
          <a:prstGeom prst="roundRect">
            <a:avLst/>
          </a:prstGeom>
          <a:solidFill>
            <a:srgbClr val="56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2D26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10896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0F8FF"/>
                </a:solidFill>
              </a:defRPr>
            </a:pPr>
            <a:r>
              <a:t>New 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62179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Persistent local store created for this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4754880"/>
          </a:xfrm>
          <a:prstGeom prst="roundRect">
            <a:avLst/>
          </a:prstGeom>
          <a:solidFill>
            <a:srgbClr val="143047"/>
          </a:solidFill>
          <a:ln>
            <a:solidFill>
              <a:srgbClr val="3A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55448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Database file: backend/data/pdm_database.json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Collections (logical sections):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assets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sensorReadings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alerts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monitoring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Benefits: easy local deployment, reproducible demos, quick prototyping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Can be migrated to MongoDB/PostgreSQL later with same API 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56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910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6CFB4"/>
                </a:solidFill>
              </a:defRPr>
            </a:pPr>
            <a:r>
              <a:t>Persistent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46304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FFA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15910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152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A756"/>
                </a:solidFill>
              </a:defRPr>
            </a:pPr>
            <a:r>
              <a:t>Zero-config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8036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56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0083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Entities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33756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6CFB4"/>
                </a:solidFill>
              </a:defRPr>
            </a:pPr>
            <a:r>
              <a:t>4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88036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FFA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30083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Migration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333756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A756"/>
                </a:solidFill>
              </a:defRPr>
            </a:pPr>
            <a:r>
              <a:t>DB-ready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5E8"/>
                </a:solidFill>
              </a:defRPr>
            </a:pPr>
            <a:r>
              <a:t>PulseGrid Predictive Maintenance Platform  |  Generated 10 Mar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82880"/>
            <a:ext cx="11567160" cy="868680"/>
          </a:xfrm>
          <a:prstGeom prst="roundRect">
            <a:avLst/>
          </a:prstGeom>
          <a:solidFill>
            <a:srgbClr val="14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731520" cy="502920"/>
          </a:xfrm>
          <a:prstGeom prst="roundRect">
            <a:avLst/>
          </a:prstGeom>
          <a:solidFill>
            <a:srgbClr val="56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2D26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10896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0F8FF"/>
                </a:solidFill>
              </a:defRPr>
            </a:pPr>
            <a:r>
              <a:t>Brand-New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62179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React dashboard connected to v2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4754880"/>
          </a:xfrm>
          <a:prstGeom prst="roundRect">
            <a:avLst/>
          </a:prstGeom>
          <a:solidFill>
            <a:srgbClr val="143047"/>
          </a:solidFill>
          <a:ln>
            <a:solidFill>
              <a:srgbClr val="3A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55448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Fleet KPI cards: assets, alerts, health, monitoring accuracy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Asset panel with risk level chips and health/risk status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Time-series charts for risk/health and sensor trends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Manual ingestion form for real-time reading submission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Asset creation form + simulation trigger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Alert panel with resolve action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46304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0F8FF"/>
                          </a:solidFill>
                        </a:defRPr>
                      </a:pPr>
                      <a:r>
                        <a:t>UI Module</a:t>
                      </a:r>
                    </a:p>
                  </a:txBody>
                  <a:tcPr>
                    <a:solidFill>
                      <a:srgbClr val="1C50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0F8FF"/>
                          </a:solidFill>
                        </a:defRPr>
                      </a:pPr>
                      <a:r>
                        <a:t>Connected API</a:t>
                      </a:r>
                    </a:p>
                  </a:txBody>
                  <a:tcPr>
                    <a:solidFill>
                      <a:srgbClr val="1C507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Dashboard Summary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GET /api/v2/dashboard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Asset Selector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GET /api/v2/assets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Trend Charts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GET /api/v2/readings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Reading Form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POST /api/v2/readings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Alerts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GET/PATCH /api/v2/alerts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5E8"/>
                </a:solidFill>
              </a:defRPr>
            </a:pPr>
            <a:r>
              <a:t>PulseGrid Predictive Maintenance Platform  |  Generated 10 Mar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82880"/>
            <a:ext cx="11567160" cy="868680"/>
          </a:xfrm>
          <a:prstGeom prst="roundRect">
            <a:avLst/>
          </a:prstGeom>
          <a:solidFill>
            <a:srgbClr val="14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731520" cy="502920"/>
          </a:xfrm>
          <a:prstGeom prst="roundRect">
            <a:avLst/>
          </a:prstGeom>
          <a:solidFill>
            <a:srgbClr val="56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2D26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10896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0F8FF"/>
                </a:solidFill>
              </a:defRPr>
            </a:pPr>
            <a:r>
              <a:t>Analytics and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62179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What the model and monitoring layer tracks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4754880"/>
          </a:xfrm>
          <a:prstGeom prst="roundRect">
            <a:avLst/>
          </a:prstGeom>
          <a:solidFill>
            <a:srgbClr val="143047"/>
          </a:solidFill>
          <a:ln>
            <a:solidFill>
              <a:srgbClr val="3A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55448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Risk score (0-1) from sensor-normalized weighted logic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Health score (0-100) with quality penalties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Trend state: rising / stable / improving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Calibration checks: out-of-range sensor detection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Missing-data handling: fallback to last known value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Monitoring: confusion matrix + baseline/current accuracy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Degradation % computed after baseline is established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FFA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910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A756"/>
                </a:solidFill>
              </a:defRPr>
            </a:pPr>
            <a:r>
              <a:t>0 - 1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46304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56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15910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152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6CFB4"/>
                </a:solidFill>
              </a:defRPr>
            </a:pPr>
            <a:r>
              <a:t>0 - 100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8036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FFA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0083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Trend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33756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A756"/>
                </a:solidFill>
              </a:defRPr>
            </a:pPr>
            <a:r>
              <a:t>3 States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88036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56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30083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333756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6CFB4"/>
                </a:solidFill>
              </a:defRPr>
            </a:pPr>
            <a:r>
              <a:t>% Drop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5E8"/>
                </a:solidFill>
              </a:defRPr>
            </a:pPr>
            <a:r>
              <a:t>PulseGrid Predictive Maintenance Platform  |  Generated 10 Mar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82880"/>
            <a:ext cx="11567160" cy="868680"/>
          </a:xfrm>
          <a:prstGeom prst="roundRect">
            <a:avLst/>
          </a:prstGeom>
          <a:solidFill>
            <a:srgbClr val="14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731520" cy="502920"/>
          </a:xfrm>
          <a:prstGeom prst="roundRect">
            <a:avLst/>
          </a:prstGeom>
          <a:solidFill>
            <a:srgbClr val="56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2D26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10896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0F8FF"/>
                </a:solidFill>
              </a:defRPr>
            </a:pPr>
            <a:r>
              <a:t>Maintenance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62179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From data to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4754880"/>
          </a:xfrm>
          <a:prstGeom prst="roundRect">
            <a:avLst/>
          </a:prstGeom>
          <a:solidFill>
            <a:srgbClr val="143047"/>
          </a:solidFill>
          <a:ln>
            <a:solidFill>
              <a:srgbClr val="3A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55448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Step 1: Ingest reading (manual/simulated/real sensor)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Step 2: Score risk and compute health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Step 3: Detect anomalies (missing/calibration)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Step 4: Open alert if threshold crossed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Step 5: Show recommended maintenance action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Step 6: Team resolves alert after intervention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Step 7: Monitoring metrics update from labeled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2331720" cy="868680"/>
          </a:xfrm>
          <a:prstGeom prst="roundRect">
            <a:avLst/>
          </a:prstGeom>
          <a:solidFill>
            <a:srgbClr val="24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0F8FF"/>
                </a:solidFill>
              </a:defRPr>
            </a:pPr>
            <a:r>
              <a:t>Data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554480"/>
            <a:ext cx="2331720" cy="868680"/>
          </a:xfrm>
          <a:prstGeom prst="roundRect">
            <a:avLst/>
          </a:prstGeom>
          <a:solidFill>
            <a:srgbClr val="3266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0F8FF"/>
                </a:solidFill>
              </a:defRPr>
            </a:pPr>
            <a:r>
              <a:t>Risk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80360"/>
            <a:ext cx="2331720" cy="868680"/>
          </a:xfrm>
          <a:prstGeom prst="roundRect">
            <a:avLst/>
          </a:prstGeom>
          <a:solidFill>
            <a:srgbClr val="407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0F8FF"/>
                </a:solidFill>
              </a:defRPr>
            </a:pPr>
            <a:r>
              <a:t>Alert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880360"/>
            <a:ext cx="2331720" cy="868680"/>
          </a:xfrm>
          <a:prstGeom prst="roundRect">
            <a:avLst/>
          </a:prstGeom>
          <a:solidFill>
            <a:srgbClr val="4E7E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0F8FF"/>
                </a:solidFill>
              </a:defRPr>
            </a:pPr>
            <a:r>
              <a:t>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06240"/>
            <a:ext cx="2331720" cy="868680"/>
          </a:xfrm>
          <a:prstGeom prst="roundRect">
            <a:avLst/>
          </a:prstGeom>
          <a:solidFill>
            <a:srgbClr val="5C8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0F8FF"/>
                </a:solidFill>
              </a:defRPr>
            </a:pPr>
            <a:r>
              <a:t>Resolve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5E8"/>
                </a:solidFill>
              </a:defRPr>
            </a:pPr>
            <a:r>
              <a:t>PulseGrid Predictive Maintenance Platform  |  Generated 10 Mar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82880"/>
            <a:ext cx="11567160" cy="868680"/>
          </a:xfrm>
          <a:prstGeom prst="roundRect">
            <a:avLst/>
          </a:prstGeom>
          <a:solidFill>
            <a:srgbClr val="14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731520" cy="502920"/>
          </a:xfrm>
          <a:prstGeom prst="roundRect">
            <a:avLst/>
          </a:prstGeom>
          <a:solidFill>
            <a:srgbClr val="56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2D26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10896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0F8FF"/>
                </a:solidFill>
              </a:defRPr>
            </a:pPr>
            <a:r>
              <a:t>Build, Run, and Compile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62179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Execution instructions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4754880"/>
          </a:xfrm>
          <a:prstGeom prst="roundRect">
            <a:avLst/>
          </a:prstGeom>
          <a:solidFill>
            <a:srgbClr val="143047"/>
          </a:solidFill>
          <a:ln>
            <a:solidFill>
              <a:srgbClr val="3A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55448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Backend start: cd backend &amp;&amp; node index.js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Frontend start: cd frontend &amp;&amp; npm start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Frontend compile: cd frontend &amp;&amp; npm run build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Service check: GET /api/v2/health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Compiled artifacts include frontend/build and docs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Release package created as ZIP for submission/sharing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56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910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Backend 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6CFB4"/>
                </a:solidFill>
              </a:defRPr>
            </a:pPr>
            <a:r>
              <a:t>8000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46304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FFA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15910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Frontend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152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A756"/>
                </a:solidFill>
              </a:defRPr>
            </a:pPr>
            <a:r>
              <a:t>3000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8036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56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0083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Health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33756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6CFB4"/>
                </a:solidFill>
              </a:defRPr>
            </a:pPr>
            <a:r>
              <a:t>200 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88036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FFA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30083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333756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A756"/>
                </a:solidFill>
              </a:defRPr>
            </a:pPr>
            <a:r>
              <a:t>Successful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5E8"/>
                </a:solidFill>
              </a:defRPr>
            </a:pPr>
            <a:r>
              <a:t>PulseGrid Predictive Maintenance Platform  |  Generated 10 Mar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82880"/>
            <a:ext cx="11567160" cy="868680"/>
          </a:xfrm>
          <a:prstGeom prst="roundRect">
            <a:avLst/>
          </a:prstGeom>
          <a:solidFill>
            <a:srgbClr val="14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731520" cy="502920"/>
          </a:xfrm>
          <a:prstGeom prst="roundRect">
            <a:avLst/>
          </a:prstGeom>
          <a:solidFill>
            <a:srgbClr val="56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2D26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10896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0F8FF"/>
                </a:solidFill>
              </a:defRPr>
            </a:pPr>
            <a:r>
              <a:t>Expected Results and Marking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62179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Evaluation checklist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4754880"/>
          </a:xfrm>
          <a:prstGeom prst="roundRect">
            <a:avLst/>
          </a:prstGeom>
          <a:solidFill>
            <a:srgbClr val="143047"/>
          </a:solidFill>
          <a:ln>
            <a:solidFill>
              <a:srgbClr val="3A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55448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Marking Point 1: End-to-end architecture implemented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Marking Point 2: Multi-machine support and ingestion APIs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Marking Point 3: Risk, health, trends, and alert workflow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Marking Point 4: Missing/calibration handling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Marking Point 5: Monitoring and degradation tracking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Marking Point 6: Compiled build + documentation + presentation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46304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0F8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C507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0F8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C507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Accuracy monitoring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Alert lead support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False alarm tracking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Noisy/partial robustness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Simulation support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Production-style flow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BED5E8"/>
                          </a:solidFill>
                        </a:defRPr>
                      </a:pPr>
                      <a:r>
                        <a:t>Implemented</a:t>
                      </a:r>
                    </a:p>
                  </a:txBody>
                  <a:tcPr>
                    <a:solidFill>
                      <a:srgbClr val="0F2A3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5E8"/>
                </a:solidFill>
              </a:defRPr>
            </a:pPr>
            <a:r>
              <a:t>PulseGrid Predictive Maintenance Platform  |  Generated 10 Mar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7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82880"/>
            <a:ext cx="11567160" cy="868680"/>
          </a:xfrm>
          <a:prstGeom prst="roundRect">
            <a:avLst/>
          </a:prstGeom>
          <a:solidFill>
            <a:srgbClr val="14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731520" cy="502920"/>
          </a:xfrm>
          <a:prstGeom prst="roundRect">
            <a:avLst/>
          </a:prstGeom>
          <a:solidFill>
            <a:srgbClr val="56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2D26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310896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0F8FF"/>
                </a:solidFill>
              </a:defRPr>
            </a:pPr>
            <a:r>
              <a:t>Conclusion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6464" y="621792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Project handoff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94960" cy="4754880"/>
          </a:xfrm>
          <a:prstGeom prst="roundRect">
            <a:avLst/>
          </a:prstGeom>
          <a:solidFill>
            <a:srgbClr val="143047"/>
          </a:solidFill>
          <a:ln>
            <a:solidFill>
              <a:srgbClr val="3A6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554480"/>
            <a:ext cx="4892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PulseGrid delivers a complete predictive-maintenance workflow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New frontend + new database + new v2 API are integrated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System is ready for demo, evaluation, and extension</a:t>
            </a:r>
          </a:p>
          <a:p>
            <a:pPr>
              <a:spcAft>
                <a:spcPts val="800"/>
              </a:spcAft>
              <a:defRPr sz="2000">
                <a:solidFill>
                  <a:srgbClr val="F0F8FF"/>
                </a:solidFill>
              </a:defRPr>
            </a:pPr>
            <a:r>
              <a:t>Next steps: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Connect live MQTT stream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Swap JSON store with managed DB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Add advanced ML model retraining pipeline</a:t>
            </a:r>
          </a:p>
          <a:p>
            <a:pPr lvl="1">
              <a:spcAft>
                <a:spcPts val="400"/>
              </a:spcAft>
              <a:defRPr sz="1600">
                <a:solidFill>
                  <a:srgbClr val="BED5E8"/>
                </a:solidFill>
              </a:defRPr>
            </a:pPr>
            <a:r>
              <a:t>Deploy with Docker and CI/CD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6304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56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910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6CFB4"/>
                </a:solidFill>
              </a:defRPr>
            </a:pPr>
            <a:r>
              <a:t>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46304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FFA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17152" y="159105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152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A756"/>
                </a:solidFill>
              </a:defRPr>
            </a:pPr>
            <a:r>
              <a:t>Prepared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8036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56C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0083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33756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56CFB4"/>
                </a:solidFill>
              </a:defRPr>
            </a:pPr>
            <a:r>
              <a:t>Included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880360"/>
            <a:ext cx="2560320" cy="1234440"/>
          </a:xfrm>
          <a:prstGeom prst="roundRect">
            <a:avLst/>
          </a:prstGeom>
          <a:solidFill>
            <a:srgbClr val="0E263A"/>
          </a:solidFill>
          <a:ln>
            <a:solidFill>
              <a:srgbClr val="FFA7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3008376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ED5E8"/>
                </a:solidFill>
              </a:defRPr>
            </a:pPr>
            <a:r>
              <a:t>PPT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333756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A756"/>
                </a:solidFill>
              </a:defRPr>
            </a:pPr>
            <a:r>
              <a:t>Generated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0080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ED5E8"/>
                </a:solidFill>
              </a:defRPr>
            </a:pPr>
            <a:r>
              <a:t>Thank you  |  Generated 10 Mar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